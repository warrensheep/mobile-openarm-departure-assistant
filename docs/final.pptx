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ecnu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6304"/>
            <a:ext cx="3154680" cy="78867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246120" y="466344"/>
            <a:ext cx="8503920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46120" y="612648"/>
            <a:ext cx="8503920" cy="0"/>
          </a:xfrm>
          <a:prstGeom prst="line">
            <a:avLst/>
          </a:prstGeom>
          <a:ln w="1524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6032" y="1078992"/>
            <a:ext cx="11137392" cy="3977639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006840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9262872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9518904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9774936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10030967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10287000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960120"/>
            <a:ext cx="2560320" cy="1645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536192"/>
            <a:ext cx="7863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微软雅黑" panose="020B0503020204020204" charset="-122"/>
              </a:rPr>
              <a:t>基于 Mobile OpenARM 的</a:t>
            </a:r>
            <a:endParaRPr sz="2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075688"/>
            <a:ext cx="886968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</a:rPr>
              <a:t>家庭出门物品准备助手</a:t>
            </a:r>
            <a:endParaRPr sz="4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65836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C200"/>
                </a:solidFill>
                <a:latin typeface="微软雅黑" panose="020B0503020204020204" charset="-122"/>
              </a:rPr>
              <a:t>系统设计与流程验证</a:t>
            </a:r>
            <a:endParaRPr sz="2400" b="1">
              <a:solidFill>
                <a:srgbClr val="FFC20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7772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</a:rPr>
              <a:t>面向家庭场景的任务决策、多模态感知与移动操作闭环</a:t>
            </a:r>
            <a:endParaRPr sz="16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课程汇报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5486400"/>
            <a:ext cx="4434840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715000"/>
            <a:ext cx="2476500" cy="439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sz="1300" b="0">
                <a:solidFill>
                  <a:srgbClr val="677079"/>
                </a:solidFill>
                <a:latin typeface="微软雅黑" panose="020B0503020204020204" charset="-122"/>
              </a:rPr>
              <a:t>小组成员：卢克为，唐俊杰，陆康</a:t>
            </a:r>
            <a:endParaRPr lang="zh-CN" sz="13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lang="zh-CN" sz="1300" b="0">
                <a:solidFill>
                  <a:srgbClr val="677079"/>
                </a:solidFill>
                <a:latin typeface="微软雅黑" panose="020B0503020204020204" charset="-122"/>
              </a:rPr>
              <a:t>指导老师：张新宇</a:t>
            </a: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  </a:t>
            </a:r>
            <a:endParaRPr sz="13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56848" y="624535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出门准备不只是“列一张清单”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  问题与目标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02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从信息提醒走向实际准备，机器人需要处理家庭环境中的多重不确定性。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1691640"/>
            <a:ext cx="32461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1" y="1874520"/>
            <a:ext cx="384048" cy="38404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192024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3140"/>
                </a:solidFill>
                <a:latin typeface="微软雅黑" panose="020B0503020204020204" charset="-122"/>
              </a:rPr>
              <a:t>1</a:t>
            </a:r>
            <a:endParaRPr sz="12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27048" y="1856232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位置不固定</a:t>
            </a:r>
            <a:endParaRPr sz="16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2304288"/>
            <a:ext cx="28803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钥匙、钱包等物品可能出现在玄关、客厅或卧室。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0" y="1691640"/>
            <a:ext cx="3246120" cy="135331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1874520"/>
            <a:ext cx="384048" cy="38404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192024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3140"/>
                </a:solidFill>
                <a:latin typeface="微软雅黑" panose="020B0503020204020204" charset="-122"/>
              </a:rPr>
              <a:t>2</a:t>
            </a:r>
            <a:endParaRPr sz="12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30368" y="1856232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环境较复杂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2304288"/>
            <a:ext cx="1898650" cy="3879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</a:rPr>
              <a:t>遮挡、光照变化以及人员活动</a:t>
            </a:r>
            <a:endParaRPr sz="115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</a:rPr>
              <a:t>都会影响识别与移动。</a:t>
            </a:r>
            <a:endParaRPr sz="11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75319" y="1691640"/>
            <a:ext cx="32461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39911" y="1874520"/>
            <a:ext cx="384048" cy="38404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1" y="192024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3140"/>
                </a:solidFill>
                <a:latin typeface="微软雅黑" panose="020B0503020204020204" charset="-122"/>
              </a:rPr>
              <a:t>3</a:t>
            </a:r>
            <a:endParaRPr sz="12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33688" y="1856232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遗漏有成本</a:t>
            </a:r>
            <a:endParaRPr sz="16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58199" y="2304288"/>
            <a:ext cx="28803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忘带证件、药品或钥匙可能带来时间与安全风险。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" y="3493008"/>
            <a:ext cx="10469880" cy="1508760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730752"/>
            <a:ext cx="11887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传统方式</a:t>
            </a:r>
            <a:endParaRPr sz="16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3000" y="4151376"/>
            <a:ext cx="23317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30373F"/>
                </a:solidFill>
                <a:latin typeface="微软雅黑" panose="020B0503020204020204" charset="-122"/>
              </a:rPr>
              <a:t>提醒用户“应该带什么”</a:t>
            </a:r>
            <a:endParaRPr sz="17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4242816"/>
            <a:ext cx="100584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7600" y="3785615"/>
            <a:ext cx="10058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E08B2C"/>
                </a:solidFill>
                <a:latin typeface="微软雅黑" panose="020B0503020204020204" charset="-122"/>
              </a:rPr>
              <a:t>能力升级</a:t>
            </a:r>
            <a:endParaRPr sz="1200" b="1">
              <a:solidFill>
                <a:srgbClr val="E08B2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83480" y="3730752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机器人辅助</a:t>
            </a:r>
            <a:endParaRPr sz="16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83480" y="4151376"/>
            <a:ext cx="3063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30373F"/>
                </a:solidFill>
                <a:latin typeface="微软雅黑" panose="020B0503020204020204" charset="-122"/>
              </a:rPr>
              <a:t>寻找、确认、搬运并集中放置</a:t>
            </a:r>
            <a:endParaRPr sz="17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366760" y="3639312"/>
            <a:ext cx="2651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3639312"/>
            <a:ext cx="109728" cy="12070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3822191"/>
            <a:ext cx="22402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核心问题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22792" y="4206240"/>
            <a:ext cx="21336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如何让感知、决策、导航与操作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围绕同一项生活任务协同工作</a:t>
            </a:r>
            <a:r>
              <a:rPr lang="zh-CN" sz="1200" b="0">
                <a:solidFill>
                  <a:srgbClr val="677079"/>
                </a:solidFill>
                <a:latin typeface="微软雅黑" panose="020B0503020204020204" charset="-122"/>
              </a:rPr>
              <a:t>？</a:t>
            </a:r>
            <a:endParaRPr lang="zh-CN" sz="12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4400" y="5349240"/>
            <a:ext cx="127000" cy="2609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endParaRPr sz="17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研究目标与系统边界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  问题与目标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03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本项目关注完整任务闭环，并清楚区分方案设计、流程验证与实机能力。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1691640"/>
            <a:ext cx="1005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43140"/>
                </a:solidFill>
                <a:latin typeface="微软雅黑" panose="020B0503020204020204" charset="-122"/>
              </a:rPr>
              <a:t>输入</a:t>
            </a:r>
            <a:endParaRPr sz="19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6112" y="2148840"/>
            <a:ext cx="1874519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1284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用户清单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265176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71576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出门场景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6112" y="315468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21868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天气 / 交通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6112" y="365760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72160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日程 / 习惯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2898648"/>
            <a:ext cx="73152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22191" y="1572768"/>
            <a:ext cx="3794760" cy="2944368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33087" y="1828800"/>
            <a:ext cx="31546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C200"/>
                </a:solidFill>
                <a:latin typeface="微软雅黑" panose="020B0503020204020204" charset="-122"/>
              </a:rPr>
              <a:t>目标系统</a:t>
            </a:r>
            <a:endParaRPr sz="2200" b="1">
              <a:solidFill>
                <a:srgbClr val="FFC20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14800" y="2350008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241401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任务理解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15000" y="2350008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241401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主动建议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114800" y="2990087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305409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搜索识别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715000" y="2990087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05409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抓取放置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19472" y="3630168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3694176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状态反馈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7818120" y="2898648"/>
            <a:ext cx="73152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778240" y="1691640"/>
            <a:ext cx="1005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43140"/>
                </a:solidFill>
                <a:latin typeface="微软雅黑" panose="020B0503020204020204" charset="-122"/>
              </a:rPr>
              <a:t>输出</a:t>
            </a:r>
            <a:endParaRPr sz="19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705088" y="2148840"/>
            <a:ext cx="1874519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221284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最终清单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705088" y="265176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05088" y="271576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搜索步骤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705088" y="315468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321868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执行状态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705088" y="365760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372160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出门提醒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868680" y="4882896"/>
            <a:ext cx="10424160" cy="0"/>
          </a:xfrm>
          <a:prstGeom prst="line">
            <a:avLst/>
          </a:prstGeom>
          <a:ln w="1270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一套框架，适应多种出门情境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  问题与目标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04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场景不同，触发条件和目标物品不同；任务结构保持一致。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1691640"/>
            <a:ext cx="2514600" cy="59436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雨天上班</a:t>
            </a:r>
            <a:endParaRPr sz="17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4128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天气：下雨
交通：拥堵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024128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8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补充雨伞
提醒提前出门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39312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39312" y="1691640"/>
            <a:ext cx="2514600" cy="59436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5615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会议出门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0480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40480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日程：会议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3840480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40480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40480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补充电脑
文件夹与证件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55664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55664" y="1691640"/>
            <a:ext cx="2514600" cy="59436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老人就医</a:t>
            </a:r>
            <a:endParaRPr sz="17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56832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56832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日程：就医
天气：降温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6656832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656832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56832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补充药盒、眼镜
证件与外套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272016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72016" y="1691640"/>
            <a:ext cx="2514600" cy="59436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普通外出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73184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73184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天气：晴朗
无特殊日程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9473184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473184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  <a:endParaRPr sz="1300" b="1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473184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按用户清单
完成基础准备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0120" y="5285232"/>
            <a:ext cx="1143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共同需求</a:t>
            </a:r>
            <a:endParaRPr sz="17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103120" y="5230368"/>
            <a:ext cx="135331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清单解析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776472" y="5230368"/>
            <a:ext cx="1353312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76472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场景判断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449824" y="5230368"/>
            <a:ext cx="135331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49824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位置预测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123176" y="5230368"/>
            <a:ext cx="1353312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23176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任务执行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796528" y="5230368"/>
            <a:ext cx="135331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96528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状态反馈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60120" y="5897880"/>
            <a:ext cx="127000" cy="236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endParaRPr sz="14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系统总体架构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05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按照“交互—决策—感知—执行”组织信息流与控制流。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1600200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1600200"/>
            <a:ext cx="1600200" cy="71323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1810512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用户交互层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70632" y="1792224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清单输入  ·  建议确认  ·  状态反馈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645152" y="2313432"/>
            <a:ext cx="0" cy="256032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2587752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2587752"/>
            <a:ext cx="1600200" cy="71323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798064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任务决策层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70632" y="2779776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清单解析  ·  主动建议  ·  任务规划  ·  异常决策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645152" y="3300984"/>
            <a:ext cx="0" cy="256032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3575304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575304"/>
            <a:ext cx="1600200" cy="713232"/>
          </a:xfrm>
          <a:prstGeom prst="roundRect">
            <a:avLst/>
          </a:prstGeom>
          <a:solidFill>
            <a:srgbClr val="546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785616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感知定位层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70632" y="3767328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视觉识别  ·  标签确认  ·  位置预测  ·  坐标转换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645152" y="4288536"/>
            <a:ext cx="0" cy="256032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562856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4562856"/>
            <a:ext cx="1600200" cy="713232"/>
          </a:xfrm>
          <a:prstGeom prst="roundRect">
            <a:avLst/>
          </a:prstGeom>
          <a:solidFill>
            <a:srgbClr val="24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773168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机器人执行层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70632" y="4754880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导航  ·  搜索  ·  抓取  ·  搬运  ·  放置确认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869680" y="1600200"/>
            <a:ext cx="2331720" cy="3675887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1847088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环境与数据支撑</a:t>
            </a:r>
            <a:endParaRPr sz="17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217152" y="2359152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2423160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天气与交通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217152" y="2871216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2935224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日程信息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217152" y="3383280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3447288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物品信息库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217152" y="3895344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7152" y="3959352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用户习惯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217152" y="4407408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4471416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任务记录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 flipH="1">
            <a:off x="8412480" y="3429000"/>
            <a:ext cx="457200" cy="0"/>
          </a:xfrm>
          <a:prstGeom prst="line">
            <a:avLst/>
          </a:prstGeom>
          <a:ln w="381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4400" y="5687568"/>
            <a:ext cx="10287000" cy="0"/>
          </a:xfrm>
          <a:prstGeom prst="line">
            <a:avLst/>
          </a:prstGeom>
          <a:ln w="1143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4400" y="5907024"/>
            <a:ext cx="1143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闭环关系</a:t>
            </a:r>
            <a:endParaRPr sz="16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93392" y="5907024"/>
            <a:ext cx="80467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感知结果支持决策，执行结果更新状态，用户反馈进一步修正任务。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主动决策与清单生成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06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系统给出有依据的建议，最终选择仍由用户确认。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" y="160020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1600200"/>
            <a:ext cx="1024128" cy="62179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78308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用户清单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84831" y="177393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钥匙、钱包、耳机</a:t>
            </a:r>
            <a:endParaRPr sz="14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1911095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" y="246888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2468880"/>
            <a:ext cx="1024128" cy="62179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265176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天气信息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84831" y="264261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下雨 → 雨伞</a:t>
            </a:r>
            <a:endParaRPr sz="14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297680" y="2779776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6112" y="333756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" y="3337560"/>
            <a:ext cx="1024128" cy="62179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52044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日程信息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84831" y="351129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会议 → 电脑、文件夹、证件</a:t>
            </a:r>
            <a:endParaRPr sz="14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297680" y="3648456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6112" y="420624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" y="4206240"/>
            <a:ext cx="1024128" cy="62179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38912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习惯信息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84831" y="437997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上班常带 → 手机</a:t>
            </a:r>
            <a:endParaRPr sz="14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297680" y="4517136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10912" y="1874519"/>
            <a:ext cx="2468880" cy="23317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21488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C200"/>
                </a:solidFill>
                <a:latin typeface="微软雅黑" panose="020B0503020204020204" charset="-122"/>
              </a:rPr>
              <a:t>规则判断</a:t>
            </a:r>
            <a:endParaRPr sz="2100" b="1">
              <a:solidFill>
                <a:srgbClr val="FFC200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394960" y="2724912"/>
            <a:ext cx="170078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2788920"/>
            <a:ext cx="1700784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标准化与去重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394960" y="3163824"/>
            <a:ext cx="170078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3227832"/>
            <a:ext cx="1700784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触发条件匹配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394960" y="3602736"/>
            <a:ext cx="170078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666744"/>
            <a:ext cx="1700784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建议理由生成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7607808" y="3035808"/>
            <a:ext cx="640080" cy="0"/>
          </a:xfrm>
          <a:prstGeom prst="line">
            <a:avLst/>
          </a:prstGeom>
          <a:ln w="381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366760" y="1874519"/>
            <a:ext cx="2788920" cy="233172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2139696"/>
            <a:ext cx="2057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43140"/>
                </a:solidFill>
                <a:latin typeface="微软雅黑" panose="020B0503020204020204" charset="-122"/>
              </a:rPr>
              <a:t>最终清单</a:t>
            </a:r>
            <a:endParaRPr sz="2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686800" y="2788920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2852927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钥匙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436608" y="2788920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36608" y="2852927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钱包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0186416" y="2788920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86416" y="2852927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耳机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686800" y="3282696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3346703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雨伞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436608" y="3282696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36608" y="3346703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手机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96112" y="5047488"/>
            <a:ext cx="33375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6112" y="5047488"/>
            <a:ext cx="109728" cy="859536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2144" y="5230368"/>
            <a:ext cx="2926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交通信息的作用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52144" y="5504561"/>
            <a:ext cx="18288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交通拥堵只生成时间提醒，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不直接改变物品清单。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434840" y="5047488"/>
            <a:ext cx="33375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34840" y="5047488"/>
            <a:ext cx="109728" cy="859536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90872" y="5230368"/>
            <a:ext cx="2926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交互原则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690872" y="5501386"/>
            <a:ext cx="231013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目标系统采用建议—确认—执行，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避免机器人替用户擅自决定。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973568" y="5047488"/>
            <a:ext cx="318211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73568" y="5047488"/>
            <a:ext cx="109728" cy="859536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5230368"/>
            <a:ext cx="27706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解释方式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229600" y="5501386"/>
            <a:ext cx="21336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每个新增物品都显示触发来源，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便于用户判断建议是否合理。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多模态识别与位置预测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07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三类信息分别回答“是什么、是不是、在哪里”。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307592" y="1792224"/>
            <a:ext cx="1499616" cy="1499616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286000"/>
            <a:ext cx="12801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视觉识别</a:t>
            </a:r>
            <a:endParaRPr sz="17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35607" y="2670048"/>
            <a:ext cx="124358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3140"/>
                </a:solidFill>
                <a:latin typeface="微软雅黑" panose="020B0503020204020204" charset="-122"/>
              </a:rPr>
              <a:t>这是什么？</a:t>
            </a:r>
            <a:endParaRPr sz="1300" b="0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3456432"/>
            <a:ext cx="19202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77079"/>
                </a:solidFill>
                <a:latin typeface="微软雅黑" panose="020B0503020204020204" charset="-122"/>
              </a:rPr>
              <a:t>物品类别、图像位置与深度信息</a:t>
            </a:r>
            <a:endParaRPr sz="12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862072" y="2542032"/>
            <a:ext cx="6281928" cy="246888"/>
          </a:xfrm>
          <a:prstGeom prst="line">
            <a:avLst/>
          </a:prstGeom>
          <a:ln w="1778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005072" y="1792224"/>
            <a:ext cx="1499616" cy="1499616"/>
          </a:xfrm>
          <a:prstGeom prst="ellipse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286000"/>
            <a:ext cx="12801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电子标签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33088" y="2670048"/>
            <a:ext cx="124358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是不是目标？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94760" y="3456432"/>
            <a:ext cx="19202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77079"/>
                </a:solidFill>
                <a:latin typeface="微软雅黑" panose="020B0503020204020204" charset="-122"/>
              </a:rPr>
              <a:t>对重要物品进行身份辅助确认</a:t>
            </a:r>
            <a:endParaRPr sz="12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559552" y="2542032"/>
            <a:ext cx="3584448" cy="246888"/>
          </a:xfrm>
          <a:prstGeom prst="line">
            <a:avLst/>
          </a:prstGeom>
          <a:ln w="1778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702552" y="1792224"/>
            <a:ext cx="1499616" cy="1499616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286000"/>
            <a:ext cx="12801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习惯信息</a:t>
            </a:r>
            <a:endParaRPr sz="17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0568" y="2670048"/>
            <a:ext cx="124358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3140"/>
                </a:solidFill>
                <a:latin typeface="微软雅黑" panose="020B0503020204020204" charset="-122"/>
              </a:rPr>
              <a:t>最可能在哪里？</a:t>
            </a:r>
            <a:endParaRPr sz="1300" b="0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3456432"/>
            <a:ext cx="19202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77079"/>
                </a:solidFill>
                <a:latin typeface="微软雅黑" panose="020B0503020204020204" charset="-122"/>
              </a:rPr>
              <a:t>按照历史位置排列搜索区域</a:t>
            </a:r>
            <a:endParaRPr sz="12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257032" y="2542032"/>
            <a:ext cx="886968" cy="246888"/>
          </a:xfrm>
          <a:prstGeom prst="line">
            <a:avLst/>
          </a:prstGeom>
          <a:ln w="1778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144000" y="1993392"/>
            <a:ext cx="1572768" cy="1572768"/>
          </a:xfrm>
          <a:prstGeom prst="ellipse">
            <a:avLst/>
          </a:prstGeom>
          <a:solidFill>
            <a:srgbClr val="24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2450592"/>
            <a:ext cx="1243584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目标可信度
判断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32688" y="4681728"/>
            <a:ext cx="3154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" y="4681728"/>
            <a:ext cx="128016" cy="914400"/>
          </a:xfrm>
          <a:prstGeom prst="rect">
            <a:avLst/>
          </a:prstGeom>
          <a:solidFill>
            <a:srgbClr val="378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07008" y="484632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信息一致</a:t>
            </a:r>
            <a:endParaRPr sz="1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07008" y="5184648"/>
            <a:ext cx="25786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确认目标，进入抓取规划</a:t>
            </a:r>
            <a:endParaRPr sz="13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89120" y="4681728"/>
            <a:ext cx="3154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4681728"/>
            <a:ext cx="128016" cy="914400"/>
          </a:xfrm>
          <a:prstGeom prst="rect">
            <a:avLst/>
          </a:prstGeom>
          <a:solidFill>
            <a:srgbClr val="E0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84632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信息冲突</a:t>
            </a:r>
            <a:endParaRPr sz="1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63440" y="5184648"/>
            <a:ext cx="25786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暂停抓取，继续观察</a:t>
            </a:r>
            <a:endParaRPr sz="13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845552" y="4681728"/>
            <a:ext cx="3154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45552" y="4681728"/>
            <a:ext cx="128016" cy="9144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2" y="484632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均不确定</a:t>
            </a:r>
            <a:endParaRPr sz="1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19872" y="5184648"/>
            <a:ext cx="25786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换区域或询问用户</a:t>
            </a:r>
            <a:endParaRPr sz="13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50976" y="5925312"/>
            <a:ext cx="978408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示例：视觉识别出两个相似钱包时，可利用 BLE 标签确认属于当前用户的目标。</a:t>
            </a:r>
            <a:endParaRPr sz="14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搜索规划与机器人作业闭环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03  机器人作业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08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根据物品位置和任务优先级组织搜索，避免逐件盲目寻找。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1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7552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读取物品信息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82112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5808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2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55264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规划搜索顺序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49824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03520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3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22976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导航至候选区域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17536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71231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4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90688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标签与视觉确认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17536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71231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5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90688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选择抓取策略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449824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03520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6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22976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搬运至玄关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182112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35808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7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55264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放置并确认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14400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8096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8</a:t>
            </a:r>
            <a:endParaRPr sz="10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87552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更新任务状态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670048" y="2048256"/>
            <a:ext cx="402336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7760" y="2048256"/>
            <a:ext cx="402336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205472" y="2048256"/>
            <a:ext cx="402336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77072" y="2377440"/>
            <a:ext cx="0" cy="429768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205472" y="3191256"/>
            <a:ext cx="420624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4937760" y="3191256"/>
            <a:ext cx="420624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670048" y="3191256"/>
            <a:ext cx="420624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783080" y="3502152"/>
            <a:ext cx="0" cy="566928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96112" y="4251960"/>
            <a:ext cx="8595360" cy="1097280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4517136"/>
            <a:ext cx="1280160" cy="246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示例搜索路线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514600" y="4453128"/>
            <a:ext cx="117043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4600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玄关柜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3703320" y="4626864"/>
            <a:ext cx="283464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4087368" y="4453128"/>
            <a:ext cx="117043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87368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客厅茶几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276088" y="4626864"/>
            <a:ext cx="283464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660136" y="4453128"/>
            <a:ext cx="117043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0136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书桌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848856" y="4626864"/>
            <a:ext cx="283464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232904" y="4453128"/>
            <a:ext cx="1170432" cy="34747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32904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玄关整理区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738360" y="1737360"/>
            <a:ext cx="148132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38360" y="1737360"/>
            <a:ext cx="109728" cy="1280160"/>
          </a:xfrm>
          <a:prstGeom prst="rect">
            <a:avLst/>
          </a:prstGeom>
          <a:solidFill>
            <a:srgbClr val="E0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94392" y="1920240"/>
            <a:ext cx="106984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识别不确定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94392" y="2304288"/>
            <a:ext cx="10668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靠近、换视角或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切换候选区域。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738360" y="3246120"/>
            <a:ext cx="148132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38360" y="3246120"/>
            <a:ext cx="109728" cy="1280160"/>
          </a:xfrm>
          <a:prstGeom prst="rect">
            <a:avLst/>
          </a:prstGeom>
          <a:solidFill>
            <a:srgbClr val="E0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94392" y="3429000"/>
            <a:ext cx="106984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抓取失败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994392" y="3813048"/>
            <a:ext cx="15240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有限重试，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随后记录异常并反馈。</a:t>
            </a:r>
            <a:endParaRPr sz="12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32688" y="5806440"/>
            <a:ext cx="127000" cy="236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endParaRPr sz="14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1833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硬件配置与抓取策略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03  机器人作业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09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传感、移动与操作设备共同支撑家庭环境中的物品准备任务。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80760" y="16002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43140"/>
                </a:solidFill>
                <a:latin typeface="微软雅黑" panose="020B0503020204020204" charset="-122"/>
              </a:rPr>
              <a:t>典型物品与操作方式</a:t>
            </a:r>
            <a:endParaRPr sz="19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080760" y="2084831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80760" y="2084831"/>
            <a:ext cx="1481328" cy="658368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2286000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43140"/>
                </a:solidFill>
                <a:latin typeface="微软雅黑" panose="020B0503020204020204" charset="-122"/>
              </a:rPr>
              <a:t>钥匙 / 耳机盒</a:t>
            </a:r>
            <a:endParaRPr sz="125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0" y="2221991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小物体夹取</a:t>
            </a:r>
            <a:endParaRPr sz="135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52560" y="2221991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尺寸小，优先选择稳定接触面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080760" y="2944368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80760" y="2944368"/>
            <a:ext cx="1481328" cy="658368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344" y="3145536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文件夹 / 证件</a:t>
            </a:r>
            <a:endParaRPr sz="12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72400" y="3081527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薄片边缘抓取</a:t>
            </a:r>
            <a:endParaRPr sz="135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52560" y="3081527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需要避免滑落与表面损伤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080760" y="3803904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80760" y="3803904"/>
            <a:ext cx="1481328" cy="658368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4005072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43140"/>
                </a:solidFill>
                <a:latin typeface="微软雅黑" panose="020B0503020204020204" charset="-122"/>
              </a:rPr>
              <a:t>水杯</a:t>
            </a:r>
            <a:endParaRPr sz="125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72400" y="3941064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圆柱侧向夹取</a:t>
            </a:r>
            <a:endParaRPr sz="135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52560" y="3941064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控制夹持力并保持竖直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80760" y="4663440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80760" y="4663440"/>
            <a:ext cx="1481328" cy="658368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81344" y="4864607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雨伞</a:t>
            </a:r>
            <a:endParaRPr sz="12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72400" y="4800600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长条物体夹取</a:t>
            </a:r>
            <a:endParaRPr sz="135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052560" y="4800600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识别伞柄或中部稳定位置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080760" y="5650992"/>
            <a:ext cx="5074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80760" y="5650992"/>
            <a:ext cx="109728" cy="56692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5797296"/>
            <a:ext cx="11430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边界说明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034022" y="5796661"/>
            <a:ext cx="3383279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电脑、外套和易碎物品需要更严格的确认条件，必要时由用户协助。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811655"/>
            <a:ext cx="5682615" cy="42779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安全约束与异常处理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03  机器人作业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10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家庭机器人首先要做到：不确定时不冒险，失败时不强行执行。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1828800"/>
            <a:ext cx="2423160" cy="5029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75104"/>
            <a:ext cx="2423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异常情况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57600" y="1828800"/>
            <a:ext cx="2423160" cy="50292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975104"/>
            <a:ext cx="2423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判断依据</a:t>
            </a:r>
            <a:endParaRPr sz="1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12280" y="1828800"/>
            <a:ext cx="3657600" cy="5029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975104"/>
            <a:ext cx="3657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处理方式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2468880"/>
            <a:ext cx="9555480" cy="512064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606040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识别不确定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22191" y="2606040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置信度较低或信息冲突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5160" y="2606040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靠近、换视角或询问用户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3072384"/>
            <a:ext cx="9555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209544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路径受阻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22191" y="3209544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持续无法通过目标区域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95160" y="3209544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等待、重新规划或请求清理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4400" y="3675888"/>
            <a:ext cx="9555480" cy="512064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813048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抓取失败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22191" y="3813048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夹爪闭合异常或物品滑落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95160" y="3813048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有限重试，随后标记异常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14400" y="4279392"/>
            <a:ext cx="9555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416552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人员靠近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22191" y="4416552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进入机械臂工作范围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95160" y="4416552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立即暂停机械臂动作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4882896"/>
            <a:ext cx="9555480" cy="512064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020056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高风险物品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22191" y="5020056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易碎、高价值或身份不确定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95160" y="5020056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提高确认条件或由用户协助</a:t>
            </a:r>
            <a:endParaRPr sz="125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14400" y="5760720"/>
            <a:ext cx="9555480" cy="53035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5925312"/>
            <a:ext cx="90982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C200"/>
                </a:solidFill>
                <a:latin typeface="微软雅黑" panose="020B0503020204020204" charset="-122"/>
              </a:rPr>
              <a:t>控制优先级：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急停与避障  &gt;  人员安全  &gt;  机械臂动作  &gt;  任务完成速度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原型验证与信息组织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04  原型与验证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11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当前原型重点检验决策逻辑、任务分解和状态反馈是否能够连贯运行。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1627632"/>
            <a:ext cx="3337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1627632"/>
            <a:ext cx="3337560" cy="62179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39" y="1819656"/>
            <a:ext cx="30632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243140"/>
                </a:solidFill>
                <a:latin typeface="微软雅黑" panose="020B0503020204020204" charset="-122"/>
              </a:rPr>
              <a:t>物品信息库</a:t>
            </a:r>
            <a:endParaRPr sz="18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307592" y="2523744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2587751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物品类别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307592" y="2999232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3063239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常见位置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07592" y="3474720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07592" y="3538727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身份标签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307592" y="3950208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7592" y="4014216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抓取方式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0" y="1627632"/>
            <a:ext cx="3337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1627632"/>
            <a:ext cx="3337560" cy="62179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1819656"/>
            <a:ext cx="30632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场景信息库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10912" y="2523744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0912" y="2587751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天气条件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10912" y="2999232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3063239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交通状态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10912" y="3474720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538727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日程类型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10912" y="3950208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912" y="4014216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携带习惯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75319" y="1627632"/>
            <a:ext cx="3337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75319" y="1627632"/>
            <a:ext cx="3337560" cy="62179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1819656"/>
            <a:ext cx="30632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243140"/>
                </a:solidFill>
                <a:latin typeface="微软雅黑" panose="020B0503020204020204" charset="-122"/>
              </a:rPr>
              <a:t>任务状态</a:t>
            </a:r>
            <a:endParaRPr sz="18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714232" y="2523744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2587751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待处理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714232" y="2999232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14232" y="3063239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执行中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714232" y="3474720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4232" y="3538727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已完成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714232" y="3950208"/>
            <a:ext cx="2468880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14232" y="4014216"/>
            <a:ext cx="246888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异常反馈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251960" y="3154680"/>
            <a:ext cx="274320" cy="0"/>
          </a:xfrm>
          <a:prstGeom prst="line">
            <a:avLst/>
          </a:prstGeom>
          <a:ln w="381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955279" y="3154680"/>
            <a:ext cx="274321" cy="0"/>
          </a:xfrm>
          <a:prstGeom prst="line">
            <a:avLst/>
          </a:prstGeom>
          <a:ln w="381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14400" y="5074920"/>
            <a:ext cx="10104120" cy="822960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0432" y="5330952"/>
            <a:ext cx="1051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验证内容</a:t>
            </a:r>
            <a:endParaRPr sz="15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31720" y="5321808"/>
            <a:ext cx="818387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清单解析  ·  场景推荐  ·  搜索步骤生成  ·  状态变化  ·  结果提醒</a:t>
            </a:r>
            <a:endParaRPr sz="15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典型案例：雨天上班</a:t>
            </a:r>
            <a:endParaRPr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04  原型与验证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从三件用户指定物品，生成一条包含建议、搜索与提醒的完整任务。</a:t>
            </a:r>
            <a:endParaRPr sz="16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1572768"/>
            <a:ext cx="2743200" cy="43891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1847088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C200"/>
                </a:solidFill>
                <a:latin typeface="微软雅黑" panose="020B0503020204020204" charset="-122"/>
              </a:rPr>
              <a:t>案例输入</a:t>
            </a:r>
            <a:endParaRPr sz="2100" b="1">
              <a:solidFill>
                <a:srgbClr val="FFC20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242316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用户清单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0240" y="242316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钥匙、钱包、耳机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274320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01752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出门场景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301752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上班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33756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361188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天气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361188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下雨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143000" y="393192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3000" y="420624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交通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0240" y="420624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拥堵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143000" y="4526279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43000" y="480060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日程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20240" y="480060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无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512064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0480" y="3694176"/>
            <a:ext cx="64008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1572768"/>
            <a:ext cx="2971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1847088"/>
            <a:ext cx="2240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43140"/>
                </a:solidFill>
                <a:latin typeface="微软雅黑" panose="020B0503020204020204" charset="-122"/>
              </a:rPr>
              <a:t>规则判断</a:t>
            </a:r>
            <a:endParaRPr sz="2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19472" y="2423160"/>
            <a:ext cx="22677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19472" y="2423160"/>
            <a:ext cx="109728" cy="7498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75504" y="2569464"/>
            <a:ext cx="544250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天气建议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00094" y="2633599"/>
            <a:ext cx="1174821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下雨 → 推荐雨伞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919472" y="3383280"/>
            <a:ext cx="22677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19472" y="3383280"/>
            <a:ext cx="109728" cy="749808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3529584"/>
            <a:ext cx="544250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习惯建议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99459" y="3529584"/>
            <a:ext cx="1174821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上班 → 补充手机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919472" y="4343400"/>
            <a:ext cx="22677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19472" y="4343400"/>
            <a:ext cx="109728" cy="7498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4489704"/>
            <a:ext cx="544250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交通提醒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99459" y="4489704"/>
            <a:ext cx="1174821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拥堵 → 提前 15 分钟</a:t>
            </a:r>
            <a:endParaRPr sz="115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7790688" y="3694176"/>
            <a:ext cx="64008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49640" y="1572768"/>
            <a:ext cx="2606040" cy="438912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1847088"/>
            <a:ext cx="19659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43140"/>
                </a:solidFill>
                <a:latin typeface="微软雅黑" panose="020B0503020204020204" charset="-122"/>
              </a:rPr>
              <a:t>案例输出</a:t>
            </a:r>
            <a:endParaRPr sz="2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869680" y="2450592"/>
            <a:ext cx="19659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最终清单</a:t>
            </a:r>
            <a:endParaRPr sz="1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915400" y="285292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291693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钥匙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02952" y="285292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2952" y="291693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钱包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915400" y="335584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15400" y="341985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耳机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902952" y="335584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02952" y="341985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雨伞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915400" y="385876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15400" y="392277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手机</a:t>
            </a:r>
            <a:endParaRPr sz="11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49868" y="4553712"/>
            <a:ext cx="1996440" cy="439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系统进一步生成搜索顺序、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执行状态与出门提醒。</a:t>
            </a:r>
            <a:endParaRPr sz="13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2754630" cy="4057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sz="2400" b="1">
                <a:solidFill>
                  <a:srgbClr val="243140"/>
                </a:solidFill>
                <a:latin typeface="微软雅黑" panose="020B0503020204020204" charset="-122"/>
              </a:rPr>
              <a:t>预期效果展示</a:t>
            </a: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：</a:t>
            </a:r>
            <a:r>
              <a:rPr lang="zh-CN" sz="2400" b="1">
                <a:solidFill>
                  <a:srgbClr val="243140"/>
                </a:solidFill>
                <a:latin typeface="微软雅黑" panose="020B0503020204020204" charset="-122"/>
              </a:rPr>
              <a:t>图片</a:t>
            </a:r>
            <a:endParaRPr lang="zh-CN" sz="2400" b="1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04  原型与验证</a:t>
            </a:r>
            <a:endParaRPr sz="9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  <a:endParaRPr sz="7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pic>
        <p:nvPicPr>
          <p:cNvPr id="63" name="图片 62" descr="be6f0eb2dbe5ea18aa354588c75e74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29640"/>
            <a:ext cx="8934450" cy="595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2543</Words>
  <Application>WPS 演示</Application>
  <PresentationFormat>On-screen Show (4:3)</PresentationFormat>
  <Paragraphs>575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Mobile OpenARM 的家庭出门物品准备助手</dc:title>
  <dc:creator>华东师范大学</dc:creator>
  <dc:description>generated using python-pptx</dc:description>
  <dc:subject>机器人导论课程汇报</dc:subject>
  <cp:lastModifiedBy>陆康</cp:lastModifiedBy>
  <cp:revision>4</cp:revision>
  <dcterms:created xsi:type="dcterms:W3CDTF">2013-01-27T09:14:00Z</dcterms:created>
  <dcterms:modified xsi:type="dcterms:W3CDTF">2026-06-12T14:00:14Z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7CB456432FFD40CA9B5B05E02AB960AF_12</vt:lpwstr>
  </property>
</Properties>
</file>